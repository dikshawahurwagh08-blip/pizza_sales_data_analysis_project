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ira Sans" panose="020B0503050000020004" pitchFamily="34" charset="0"/>
      <p:regular r:id="rId17"/>
    </p:embeddedFont>
    <p:embeddedFont>
      <p:font typeface="Inconsolata Bold" pitchFamily="1" charset="0"/>
      <p:regular r:id="rId18"/>
      <p:bold r:id="rId19"/>
    </p:embeddedFont>
    <p:embeddedFont>
      <p:font typeface="Inconsolata Light" pitchFamily="1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6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Pizza Sales Analysis Using SQL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Exploring a real-world sales dataset with MySQL to uncover customer behavior and revenue insights.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94385"/>
            <a:ext cx="796900" cy="266402"/>
          </a:xfrm>
          <a:prstGeom prst="roundRect">
            <a:avLst>
              <a:gd name="adj" fmla="val 6386"/>
            </a:avLst>
          </a:prstGeom>
          <a:solidFill>
            <a:srgbClr val="4A022B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36875"/>
            <a:ext cx="10839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SQL · MYSQL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92861" y="3289622"/>
            <a:ext cx="125529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82679" y="3336875"/>
            <a:ext cx="15328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PIZZA SALES DATASET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293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849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9267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233240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 sales data, generate business insights, understand ordering patterns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849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9267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Tables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23324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Orders · Order_Details · Pizzas · Pizza_Types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3389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Tools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6454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MySQL, JOINs, Window Functions, Aggregations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Database Schema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Four tables linked through foreign keys — from orders down to pizza categories.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04" y="2112466"/>
            <a:ext cx="1743670" cy="7845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69805" y="223301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869805" y="2478807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order_id, order_date, order_time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1185" y="2112466"/>
            <a:ext cx="1743670" cy="7845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78885" y="223301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order_details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678885" y="2478807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order_details_id, order_id, pizza_id, quantity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04" y="2976711"/>
            <a:ext cx="1743670" cy="7845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69805" y="309726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pizzas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869805" y="3343052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pizza_id, pizza_type_id, size, price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1185" y="2976711"/>
            <a:ext cx="1743670" cy="78454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8885" y="309726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pizza_types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6678885" y="3343052"/>
            <a:ext cx="144541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pizza_type_id, category, name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3903"/>
            <a:ext cx="52410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Q1–Q3: Foundational Queries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812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21,350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30261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3327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Q1: COUNT(order_id)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3812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$817K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30261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33327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Q2: SUM(quantity × price)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3812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$35.95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30261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Highest Priced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33327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Q3: The Greek Pizza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49374"/>
            <a:ext cx="377911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Q4–Q5: Size &amp; Popularity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977875"/>
            <a:ext cx="3685952" cy="2653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911721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Most Common Size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1171203"/>
            <a:ext cx="41431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Large dominates with </a:t>
            </a: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18,526 orders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1750" y="1453976"/>
            <a:ext cx="3685952" cy="8260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11750" y="1587252"/>
            <a:ext cx="246310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5 Pizza Types by Quantity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1750" y="1857598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2031504"/>
            <a:ext cx="3685952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1750" y="2115443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Classic Deluxe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11750" y="244271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2605608"/>
            <a:ext cx="3685952" cy="142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11750" y="2700561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Barbecue Chicken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711750" y="3027834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3179638"/>
            <a:ext cx="3685952" cy="142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11750" y="3285679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Hawaiian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4711750" y="3612952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3753743"/>
            <a:ext cx="3685952" cy="142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11750" y="3870796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Pepperoni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711750" y="4198069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05</a:t>
            </a:r>
            <a:endParaRPr lang="en-US" sz="8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50" y="4327773"/>
            <a:ext cx="3685952" cy="142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11750" y="4455914"/>
            <a:ext cx="368595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Thai Chicken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03386"/>
            <a:ext cx="5271418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Q6–Q7: Category Volume &amp; Order Timing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19820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Orders by Category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0182" y="1058912"/>
            <a:ext cx="392199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Classic leads in total quantity ordered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289298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313012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Peak Ordering Hours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3638" y="2552105"/>
            <a:ext cx="392199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Orders cluster around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lunch (12pm)</a:t>
            </a: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r>
              <a:rPr lang="en-US" sz="8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evening (6–8pm)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03638" y="2782491"/>
            <a:ext cx="3464793" cy="478334"/>
          </a:xfrm>
          <a:prstGeom prst="roundRect">
            <a:avLst>
              <a:gd name="adj" fmla="val 3265"/>
            </a:avLst>
          </a:prstGeom>
          <a:solidFill>
            <a:srgbClr val="4A022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744" y="2926184"/>
            <a:ext cx="130076" cy="104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41925" y="2877220"/>
            <a:ext cx="302240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Insight: Staffing and promotions can be timed around these peaks.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64813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Q8–Q9: Menu Variety &amp; Daily Demand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8481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Pizza Varieties by Category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405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Average Pizzas Per Day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Subquery aggregates daily quantity, then AVG() estimates typical demand for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inventory planning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271861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482155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243482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Technique: Nested subquery + AVG()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48866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Q10–Q11: Revenue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4939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3 Pizzas by Revenue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405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Revenue Contribution %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Subquery calculates total revenue; outer query shows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category share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0651" y="2271861"/>
            <a:ext cx="1899642" cy="9116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7660" y="243267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Classic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67660" y="2795885"/>
            <a:ext cx="15018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Highest revenue share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002" y="2271861"/>
            <a:ext cx="1899642" cy="9116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0011" y="2432670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Supreme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90011" y="2795885"/>
            <a:ext cx="15018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Second contributor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3805"/>
            <a:ext cx="52410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Q12–Q13: Advanced Analytics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11151"/>
            <a:ext cx="29367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Cumulative Revenue Over Time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74366"/>
            <a:ext cx="3902943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 (ORDER BY order_date)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tracks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running revenue total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day by 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96989"/>
            <a:ext cx="3902943" cy="552748"/>
          </a:xfrm>
          <a:prstGeom prst="roundRect">
            <a:avLst>
              <a:gd name="adj" fmla="val 3847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907283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859956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Shows growth trajectory and seasonality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7111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3 per Category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2074366"/>
            <a:ext cx="3902943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(PARTITION BY category)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finds best performers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within each category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49701" y="2696989"/>
            <a:ext cx="1880592" cy="726430"/>
          </a:xfrm>
          <a:prstGeom prst="roundRect">
            <a:avLst>
              <a:gd name="adj" fmla="val 2927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4891460" y="2838748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Classic → Classic Deluxe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72052" y="2696989"/>
            <a:ext cx="1880592" cy="726430"/>
          </a:xfrm>
          <a:prstGeom prst="roundRect">
            <a:avLst>
              <a:gd name="adj" fmla="val 2927"/>
            </a:avLst>
          </a:prstGeom>
          <a:solidFill>
            <a:srgbClr val="43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6913811" y="2838748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Supreme → The Supreme Pizza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49701" y="3565178"/>
            <a:ext cx="3902943" cy="504974"/>
          </a:xfrm>
          <a:prstGeom prst="roundRect">
            <a:avLst>
              <a:gd name="adj" fmla="val 4211"/>
            </a:avLst>
          </a:prstGeom>
          <a:solidFill>
            <a:srgbClr val="433550"/>
          </a:solidFill>
          <a:ln/>
        </p:spPr>
      </p:sp>
      <p:sp>
        <p:nvSpPr>
          <p:cNvPr id="15" name="Text 12"/>
          <p:cNvSpPr/>
          <p:nvPr/>
        </p:nvSpPr>
        <p:spPr>
          <a:xfrm>
            <a:off x="4891460" y="3706937"/>
            <a:ext cx="22138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Veggie → The Veggie Pizza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362" y="317302"/>
            <a:ext cx="398725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Findings &amp; Conclusion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362" y="805235"/>
            <a:ext cx="4924276" cy="831279"/>
          </a:xfrm>
          <a:prstGeom prst="roundRect">
            <a:avLst>
              <a:gd name="adj" fmla="val 2039"/>
            </a:avLst>
          </a:prstGeom>
          <a:solidFill>
            <a:srgbClr val="433550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22" y="918195"/>
            <a:ext cx="338882" cy="33888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489" y="1011362"/>
            <a:ext cx="152474" cy="1524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8322" y="1347043"/>
            <a:ext cx="204690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21,350 Orders · $817K Revenue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395362" y="1726481"/>
            <a:ext cx="4924276" cy="831279"/>
          </a:xfrm>
          <a:prstGeom prst="roundRect">
            <a:avLst>
              <a:gd name="adj" fmla="val 2039"/>
            </a:avLst>
          </a:prstGeom>
          <a:solidFill>
            <a:srgbClr val="433550"/>
          </a:solidFill>
          <a:ln/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322" y="1839441"/>
            <a:ext cx="338882" cy="338882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489" y="1932608"/>
            <a:ext cx="152474" cy="15247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08322" y="2268289"/>
            <a:ext cx="19763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Classic Deluxe = Best Seller</a:t>
            </a:r>
            <a:endParaRPr lang="en-US" sz="1100" dirty="0"/>
          </a:p>
        </p:txBody>
      </p:sp>
      <p:sp>
        <p:nvSpPr>
          <p:cNvPr id="12" name="Shape 5"/>
          <p:cNvSpPr/>
          <p:nvPr/>
        </p:nvSpPr>
        <p:spPr>
          <a:xfrm>
            <a:off x="395362" y="2647727"/>
            <a:ext cx="4924276" cy="831279"/>
          </a:xfrm>
          <a:prstGeom prst="roundRect">
            <a:avLst>
              <a:gd name="adj" fmla="val 2039"/>
            </a:avLst>
          </a:prstGeom>
          <a:solidFill>
            <a:srgbClr val="433550"/>
          </a:solidFill>
          <a:ln/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322" y="2760687"/>
            <a:ext cx="338882" cy="338882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489" y="2853854"/>
            <a:ext cx="152474" cy="152474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8322" y="3189536"/>
            <a:ext cx="190574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Peak Hours: Lunch &amp; Evening</a:t>
            </a:r>
            <a:endParaRPr lang="en-US" sz="1100" dirty="0"/>
          </a:p>
        </p:txBody>
      </p:sp>
      <p:sp>
        <p:nvSpPr>
          <p:cNvPr id="16" name="Shape 7"/>
          <p:cNvSpPr/>
          <p:nvPr/>
        </p:nvSpPr>
        <p:spPr>
          <a:xfrm>
            <a:off x="395362" y="3568973"/>
            <a:ext cx="4924276" cy="831279"/>
          </a:xfrm>
          <a:prstGeom prst="roundRect">
            <a:avLst>
              <a:gd name="adj" fmla="val 2039"/>
            </a:avLst>
          </a:prstGeom>
          <a:solidFill>
            <a:srgbClr val="433550"/>
          </a:solidFill>
          <a:ln/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322" y="3681933"/>
            <a:ext cx="338882" cy="33888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489" y="3775100"/>
            <a:ext cx="152474" cy="152474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8322" y="4110782"/>
            <a:ext cx="218807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Classic Category Drives Revenue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395362" y="4501455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SQL uncovered ordering patterns, revenue drivers, and demand trends — insights that can guide </a:t>
            </a:r>
            <a:r>
              <a:rPr lang="en-US" sz="8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inventory, staffing, and marketing</a:t>
            </a: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decisions.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443</Words>
  <Application>Microsoft Office PowerPoint</Application>
  <PresentationFormat>On-screen Show (16:9)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Fira Sans</vt:lpstr>
      <vt:lpstr>Inconsolata Light</vt:lpstr>
      <vt:lpstr>Consolas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Ruturaj Mane</cp:lastModifiedBy>
  <cp:revision>2</cp:revision>
  <dcterms:created xsi:type="dcterms:W3CDTF">2026-06-08T14:41:55Z</dcterms:created>
  <dcterms:modified xsi:type="dcterms:W3CDTF">2026-06-08T14:43:35Z</dcterms:modified>
</cp:coreProperties>
</file>